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143000" cy="1143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38528" y="841248"/>
            <a:ext cx="1874519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GYM OWNER SALES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58064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Run your gym from one connected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07792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CBD5E1"/>
                </a:solidFill>
                <a:latin typeface="Aptos"/>
              </a:rPr>
              <a:t>A branded gym management system, POS, and member app that sell, schedule, report, and open the door in one product.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69080"/>
            <a:ext cx="1691640" cy="77724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D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41788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A2F4B1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4507992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connected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7" y="4069080"/>
            <a:ext cx="1691640" cy="77724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D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8335" y="41788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A2F4B1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5" y="4507992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systems in 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4069080"/>
            <a:ext cx="1691640" cy="77724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D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41788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A2F4B1"/>
                </a:solidFill>
                <a:latin typeface="Aptos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4507992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member self-service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841248"/>
            <a:ext cx="4297680" cy="5349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04888" y="1042416"/>
            <a:ext cx="3895344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32903" y="1115568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15783" y="1115568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98663" y="1115568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04888" y="1481328"/>
            <a:ext cx="3895344" cy="4507991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Admin dashboard + branded member app hero screenshots</a:t>
            </a:r>
          </a:p>
        </p:txBody>
      </p:sp>
      <p:pic>
        <p:nvPicPr>
          <p:cNvPr id="24" name="Picture 23" descr="pono-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4828032"/>
            <a:ext cx="1051560" cy="1051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01 / 12</a:t>
            </a:r>
          </a:p>
        </p:txBody>
      </p:sp>
      <p:pic>
        <p:nvPicPr>
          <p:cNvPr id="27" name="Picture 26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175004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3035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Too many systems create too much drag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3035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Owners should not need separate tools for members, payments, booking, reporting, access, and staff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999232"/>
            <a:ext cx="4983480" cy="56692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313639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Separate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3136392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CBD5E1"/>
                </a:solidFill>
                <a:latin typeface="Aptos"/>
              </a:rPr>
              <a:t>Duplicate entry slows down staff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803904"/>
            <a:ext cx="4983480" cy="56692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94106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Separate 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394106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CBD5E1"/>
                </a:solidFill>
                <a:latin typeface="Aptos"/>
              </a:rPr>
              <a:t>Revenue gets missed when sales live in separate 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608576"/>
            <a:ext cx="4983480" cy="56692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74573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Separate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474573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CBD5E1"/>
                </a:solidFill>
                <a:latin typeface="Aptos"/>
              </a:rPr>
              <a:t>Members feel the friction when data is out of 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252728"/>
            <a:ext cx="4736592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76288" y="1453896"/>
            <a:ext cx="4334255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04303" y="1527048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87183" y="1527048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70063" y="1527048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76288" y="1892808"/>
            <a:ext cx="4334255" cy="3639311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Show the scattered tools this replaces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02 / 12</a:t>
            </a:r>
          </a:p>
        </p:txBody>
      </p:sp>
      <p:pic>
        <p:nvPicPr>
          <p:cNvPr id="25" name="Picture 24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097280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THE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669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Three core systems, one integrated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669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Gym management, POS, and member app are designed to work together from the start.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017520"/>
            <a:ext cx="1508760" cy="7498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Gym Management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3264408"/>
            <a:ext cx="512064" cy="201168"/>
          </a:xfrm>
          <a:prstGeom prst="rightArrow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53512" y="3017520"/>
            <a:ext cx="1508760" cy="7498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24612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26280" y="3264408"/>
            <a:ext cx="512064" cy="201168"/>
          </a:xfrm>
          <a:prstGeom prst="rightArrow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93792" y="3017520"/>
            <a:ext cx="1508760" cy="7498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24612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Member App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1239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41648"/>
            <a:ext cx="51389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Aptos"/>
              </a:rPr>
              <a:t>Manage people, plans, bookings, credits, leads, waivers, subscriptions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5811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98848"/>
            <a:ext cx="51389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Aptos"/>
              </a:rPr>
              <a:t>Sell memberships, products, class packs, PT packs, services, and balances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50383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56048"/>
            <a:ext cx="51389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Aptos"/>
              </a:rPr>
              <a:t>Let members buy, book, pay, and unlock without waiting at the desk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261872"/>
            <a:ext cx="4645152" cy="44439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22007" y="1463039"/>
            <a:ext cx="4242816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50023" y="1536192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32903" y="1536192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15783" y="1536192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22007" y="1901952"/>
            <a:ext cx="4242816" cy="3602735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Three screenshots: admin area, POS/cart, member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03 / 12</a:t>
            </a:r>
          </a:p>
        </p:txBody>
      </p:sp>
      <p:pic>
        <p:nvPicPr>
          <p:cNvPr id="30" name="Picture 29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2185416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OWNER + STAFF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577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A polished command center for the front 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The admin area gives owners and staff a daily operating view with the workflows they actually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1968" y="1170432"/>
            <a:ext cx="4754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0" y="1417320"/>
            <a:ext cx="1078992" cy="4059936"/>
          </a:xfrm>
          <a:prstGeom prst="roundRect">
            <a:avLst/>
          </a:prstGeom>
          <a:solidFill>
            <a:srgbClr val="2D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31152" y="1664208"/>
            <a:ext cx="8412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31152" y="2157984"/>
            <a:ext cx="8412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31152" y="2651760"/>
            <a:ext cx="841248" cy="256032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31152" y="3145536"/>
            <a:ext cx="8412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31152" y="3639312"/>
            <a:ext cx="8412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31152" y="4133088"/>
            <a:ext cx="8412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627632"/>
            <a:ext cx="1207008" cy="65836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1627632"/>
            <a:ext cx="1207008" cy="65836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542032"/>
            <a:ext cx="1207008" cy="65836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55480" y="2542032"/>
            <a:ext cx="1207008" cy="65836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01583" y="3657600"/>
            <a:ext cx="2852928" cy="1600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2752" y="3858768"/>
            <a:ext cx="2450592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0768" y="3931920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13648" y="3931920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96528" y="3931920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02752" y="4297680"/>
            <a:ext cx="2450592" cy="75895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DROP SCREENSHOT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Admin dashboard and sidebar navigation</a:t>
            </a:r>
          </a:p>
        </p:txBody>
      </p:sp>
      <p:sp>
        <p:nvSpPr>
          <p:cNvPr id="26" name="Oval 25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1272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Members, trainers, bookings, master schedule, services, plans, discounts</a:t>
            </a:r>
          </a:p>
        </p:txBody>
      </p:sp>
      <p:sp>
        <p:nvSpPr>
          <p:cNvPr id="28" name="Oval 27"/>
          <p:cNvSpPr/>
          <p:nvPr/>
        </p:nvSpPr>
        <p:spPr>
          <a:xfrm>
            <a:off x="749808" y="38953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8130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Money owed, sales, transactions, open credits, expirations, PT/class sessions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45811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4988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Role-aware access for owners, staff, trainers, and members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04 / 12</a:t>
            </a:r>
          </a:p>
        </p:txBody>
      </p:sp>
      <p:pic>
        <p:nvPicPr>
          <p:cNvPr id="34" name="Picture 33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330452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POS +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577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Built to capture gym revenue in the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Members can buy from the app. Staff can ring up purchases at the desk. Both land in the same system.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App checkout for memberships, packs, classes, PT, products, and services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8953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130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Front-desk payment flows for terminal, money owed, and card-on-file use cases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45811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Flexible Stripe-powered checkout keeps payments modern and familiar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170432"/>
            <a:ext cx="2212848" cy="43708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48132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6288" y="1920240"/>
            <a:ext cx="1664208" cy="29260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198424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CBD5E1"/>
                </a:solidFill>
                <a:latin typeface="Aptos"/>
              </a:rPr>
              <a:t>Membership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2395728"/>
            <a:ext cx="1664208" cy="29260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245973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CBD5E1"/>
                </a:solidFill>
                <a:latin typeface="Aptos"/>
              </a:rPr>
              <a:t>PT Pack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6288" y="2871216"/>
            <a:ext cx="1664208" cy="29260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93522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CBD5E1"/>
                </a:solidFill>
                <a:latin typeface="Aptos"/>
              </a:rPr>
              <a:t>Product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6288" y="3346704"/>
            <a:ext cx="1664208" cy="29260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341071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CBD5E1"/>
                </a:solidFill>
                <a:latin typeface="Aptos"/>
              </a:rPr>
              <a:t>Balance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76288" y="4279392"/>
            <a:ext cx="1664208" cy="384048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4389120"/>
            <a:ext cx="1298448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Aptos"/>
              </a:rPr>
              <a:t>PAY / RING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1170432"/>
            <a:ext cx="2395728" cy="437083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72016" y="1371600"/>
            <a:ext cx="1993392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00032" y="1444752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2" y="1444752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65792" y="1444752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72016" y="1810512"/>
            <a:ext cx="1993392" cy="3529583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SCREENSHOT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Cart, checkout, terminal, or money owed collection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05 / 12</a:t>
            </a:r>
          </a:p>
        </p:txBody>
      </p:sp>
      <p:pic>
        <p:nvPicPr>
          <p:cNvPr id="34" name="Picture 33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641348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MEMBER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577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A member app that keeps the gym in their pocket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A branded member home base for booking, buying, paying, tracking, and accessing the gym.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Book classes and personal training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8953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130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View subscriptions, credits, purchases, and upcoming bookings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45811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Optional wellness features: workouts, macros, weigh-ins, progress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914400"/>
            <a:ext cx="1874519" cy="5138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76288" y="1115568"/>
            <a:ext cx="1472184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04303" y="1188720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87183" y="1188720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70063" y="1188720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76288" y="1463039"/>
            <a:ext cx="1472184" cy="4389120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PHONE SCREENSHOT</a:t>
            </a:r>
          </a:p>
          <a:p>
            <a:pPr algn="ctr">
              <a:spcBef>
                <a:spcPts val="800"/>
              </a:spcBef>
            </a:pPr>
            <a:r>
              <a:rPr sz="800">
                <a:solidFill>
                  <a:srgbClr val="CBD5E1"/>
                </a:solidFill>
                <a:latin typeface="Aptos"/>
              </a:rPr>
              <a:t>Member app home screen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1481328"/>
            <a:ext cx="2450592" cy="4069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89136" y="1682496"/>
            <a:ext cx="2048256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17152" y="1755648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00032" y="1755648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2912" y="1755648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9136" y="2121408"/>
            <a:ext cx="2048256" cy="322783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APP SCREENSHOT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Booking or purchase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06 / 12</a:t>
            </a:r>
          </a:p>
        </p:txBody>
      </p:sp>
      <p:pic>
        <p:nvPicPr>
          <p:cNvPr id="28" name="Picture 27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175004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DOOR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577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Members can even open the door with the dang 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Optional door access turns the app into part of the real-world gym experience.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Eligible members unlock from the app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8953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130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Door events can feed check-ins and occupancy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45811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Access can stay tied to membership status, renewals, expirations, and failed 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261872"/>
            <a:ext cx="1828800" cy="4498848"/>
          </a:xfrm>
          <a:prstGeom prst="roundRect">
            <a:avLst/>
          </a:prstGeom>
          <a:solidFill>
            <a:srgbClr val="2D302D"/>
          </a:solidFill>
          <a:ln w="1905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3337560"/>
            <a:ext cx="137160" cy="13716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1874519"/>
            <a:ext cx="1664208" cy="1664208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2" y="2615184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UNLOCK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840480"/>
            <a:ext cx="2286000" cy="1508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53728" y="4041648"/>
            <a:ext cx="1883664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81744" y="4114800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64624" y="4114800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47504" y="4114800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53728" y="4480560"/>
            <a:ext cx="1883664" cy="667511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DROP SCREENSHOT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Unlock button beside occupancy/check-in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07 / 12</a:t>
            </a:r>
          </a:p>
        </p:txBody>
      </p:sp>
      <p:pic>
        <p:nvPicPr>
          <p:cNvPr id="26" name="Picture 25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097280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577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Classes and PT stay connected to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Owners control the schedule while members book and buy from the same place.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Master schedule for classes and trainer availability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8953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130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Class bookings, PT bookings, packs, and credits connect to checkout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45811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Staff and trainers see the right schedule context without another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1170432"/>
            <a:ext cx="4617720" cy="4526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14447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Master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31152" y="1920240"/>
            <a:ext cx="841248" cy="393192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18704" y="1920240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06256" y="1920240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93808" y="1920240"/>
            <a:ext cx="841248" cy="393192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31152" y="2487168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18704" y="2487168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06256" y="2487168"/>
            <a:ext cx="841248" cy="393192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93808" y="2487168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31152" y="3054096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18704" y="3054096"/>
            <a:ext cx="841248" cy="393192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06256" y="3054096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93808" y="3054096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31152" y="3621024"/>
            <a:ext cx="841248" cy="393192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18704" y="3621024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06256" y="3621024"/>
            <a:ext cx="841248" cy="39319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93808" y="3621024"/>
            <a:ext cx="841248" cy="393192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52360" y="4462272"/>
            <a:ext cx="3218688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53528" y="4663440"/>
            <a:ext cx="2816352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81544" y="4736592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64424" y="4736592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47304" y="4736592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53528" y="5102352"/>
            <a:ext cx="2816352" cy="-18287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DROP SCREENSHOT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Master schedule, class booking, or trainer 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08 / 12</a:t>
            </a:r>
          </a:p>
        </p:txBody>
      </p:sp>
      <p:pic>
        <p:nvPicPr>
          <p:cNvPr id="40" name="Picture 39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485900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LIVE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577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Members, staff, and owners stay in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When someone purchases, books, checks in, or pays, the relevant areas update quickly across the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999232"/>
            <a:ext cx="1508760" cy="7498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27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Member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3246120"/>
            <a:ext cx="512064" cy="201168"/>
          </a:xfrm>
          <a:prstGeom prst="rightArrow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53512" y="2999232"/>
            <a:ext cx="1508760" cy="7498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227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Staff POS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26280" y="3246120"/>
            <a:ext cx="512064" cy="201168"/>
          </a:xfrm>
          <a:prstGeom prst="rightArrow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93792" y="2999232"/>
            <a:ext cx="1508760" cy="7498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227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Owner View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1239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41648"/>
            <a:ext cx="51389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Aptos"/>
              </a:rPr>
              <a:t>Owners see current sales, owed balances, bookings, occupancy, and check-ins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5811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98848"/>
            <a:ext cx="51389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Aptos"/>
              </a:rPr>
              <a:t>Staff work from the same member and payment data the app uses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50383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56048"/>
            <a:ext cx="51389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Aptos"/>
              </a:rPr>
              <a:t>Members see bookings, credits, purchases, and access status without manual cleanup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261872"/>
            <a:ext cx="4645152" cy="44439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22007" y="1463039"/>
            <a:ext cx="4242816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50023" y="1536192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32903" y="1536192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15783" y="1536192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22007" y="1901952"/>
            <a:ext cx="4242816" cy="3602735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One action reflected across admin and member 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09 / 12</a:t>
            </a:r>
          </a:p>
        </p:txBody>
      </p:sp>
      <p:pic>
        <p:nvPicPr>
          <p:cNvPr id="30" name="Picture 29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097280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577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Insight that helps owners act sooner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Everyday gym activity turns into visibility for revenue, attendance, operations, and follow-up.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Sales reporting by date range and category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8953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130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Occupancy and check-in analytics for staffing and programming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45811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Visibility into subscriptions, expirations, transactions, credits, and money owed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188720"/>
            <a:ext cx="4681728" cy="44988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4813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Sales + Occupancy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4297680"/>
            <a:ext cx="256032" cy="502920"/>
          </a:xfrm>
          <a:prstGeom prst="rect">
            <a:avLst/>
          </a:prstGeom>
          <a:solidFill>
            <a:srgbClr val="3D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25512" y="3657600"/>
            <a:ext cx="256032" cy="1143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4424" y="3977639"/>
            <a:ext cx="256032" cy="822960"/>
          </a:xfrm>
          <a:prstGeom prst="rect">
            <a:avLst/>
          </a:prstGeom>
          <a:solidFill>
            <a:srgbClr val="3D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03336" y="3291840"/>
            <a:ext cx="256032" cy="150876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42248" y="3794760"/>
            <a:ext cx="256032" cy="1005840"/>
          </a:xfrm>
          <a:prstGeom prst="rect">
            <a:avLst/>
          </a:prstGeom>
          <a:solidFill>
            <a:srgbClr val="3D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2926080"/>
            <a:ext cx="256032" cy="1874519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8887968" y="2121408"/>
            <a:ext cx="1481328" cy="1188720"/>
          </a:xfrm>
          <a:prstGeom prst="arc">
            <a:avLst/>
          </a:prstGeom>
          <a:ln w="38100">
            <a:solidFill>
              <a:srgbClr val="B46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3794760"/>
            <a:ext cx="2148840" cy="12618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69680" y="3995928"/>
            <a:ext cx="1746504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97696" y="4069080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80576" y="4069080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63456" y="4069080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0" y="4434840"/>
            <a:ext cx="1746504" cy="420623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DROP SCREENSHOT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Sales report, analytics dashboard, or check-ins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10 / 12</a:t>
            </a:r>
          </a:p>
        </p:txBody>
      </p:sp>
      <p:pic>
        <p:nvPicPr>
          <p:cNvPr id="31" name="Picture 30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330452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CUSTOMIZATION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55778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Your gym, your 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577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Both the POS/admin area and the member app can be customized with the gym's brand colors and logo.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095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Make the member app feel like the gym, not a generic portal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8953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130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Match admin/POS surfaces to the brand staff already knows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4581144"/>
            <a:ext cx="118872" cy="11887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50932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Support gym-specific settings, hours, waiver assets, and optional features</a:t>
            </a:r>
          </a:p>
        </p:txBody>
      </p:sp>
      <p:pic>
        <p:nvPicPr>
          <p:cNvPr id="14" name="Picture 13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43000"/>
            <a:ext cx="1508760" cy="1508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37160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Brand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743200"/>
            <a:ext cx="786384" cy="786384"/>
          </a:xfrm>
          <a:prstGeom prst="roundRect">
            <a:avLst/>
          </a:prstGeom>
          <a:solidFill>
            <a:srgbClr val="A2F4B1"/>
          </a:solidFill>
          <a:ln w="8890">
            <a:solidFill>
              <a:srgbClr val="A2F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639312"/>
            <a:ext cx="868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Aptos"/>
              </a:rPr>
              <a:t>Mint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54112" y="2743200"/>
            <a:ext cx="786384" cy="786384"/>
          </a:xfrm>
          <a:prstGeom prst="roundRect">
            <a:avLst/>
          </a:prstGeom>
          <a:solidFill>
            <a:srgbClr val="3D9D5F"/>
          </a:solidFill>
          <a:ln w="8890">
            <a:solidFill>
              <a:srgbClr val="3D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3639312"/>
            <a:ext cx="868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Aptos"/>
              </a:rPr>
              <a:t>Leaf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3104" y="2743200"/>
            <a:ext cx="786384" cy="786384"/>
          </a:xfrm>
          <a:prstGeom prst="roundRect">
            <a:avLst/>
          </a:prstGeom>
          <a:solidFill>
            <a:srgbClr val="2D302D"/>
          </a:solidFill>
          <a:ln w="8890">
            <a:solidFill>
              <a:srgbClr val="2D3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7384" y="3639312"/>
            <a:ext cx="868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Aptos"/>
              </a:rPr>
              <a:t>Charcoal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12096" y="2743200"/>
            <a:ext cx="786384" cy="786384"/>
          </a:xfrm>
          <a:prstGeom prst="roundRect">
            <a:avLst/>
          </a:prstGeom>
          <a:solidFill>
            <a:srgbClr val="FAFFFA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66376" y="3639312"/>
            <a:ext cx="868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Aptos"/>
              </a:rPr>
              <a:t>Cream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114800"/>
            <a:ext cx="4599432" cy="1325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22007" y="4315968"/>
            <a:ext cx="4197096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50023" y="4389120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32903" y="4389120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15783" y="4389120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22007" y="4754880"/>
            <a:ext cx="4197096" cy="484631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DROP BRANDED SCREENSHOT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Logo, color palette, admin theme, member app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11 / 12</a:t>
            </a:r>
          </a:p>
        </p:txBody>
      </p:sp>
      <p:pic>
        <p:nvPicPr>
          <p:cNvPr id="32" name="Picture 31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-594360"/>
            <a:ext cx="2286000" cy="2286000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1792"/>
            <a:ext cx="1005840" cy="1005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883664" y="859536"/>
            <a:ext cx="1600200" cy="32918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WHY OWNERS CHOOSE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81228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 Display"/>
              </a:rPr>
              <a:t>One product that sells, manages, schedules, reports, and opens the door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99232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Fewer systems, more captured revenue, and a smoother branded experience for every member.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33087"/>
            <a:ext cx="1691640" cy="77724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D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24281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A2F4B1"/>
                </a:solidFill>
                <a:latin typeface="Aptos"/>
              </a:rPr>
              <a:t>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72000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system chaos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133087"/>
            <a:ext cx="1691640" cy="77724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D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424281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A2F4B1"/>
                </a:solidFill>
                <a:latin typeface="Aptos"/>
              </a:rPr>
              <a:t>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4572000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captured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133087"/>
            <a:ext cx="1691640" cy="77724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D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424281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A2F4B1"/>
                </a:solidFill>
                <a:latin typeface="Aptos"/>
              </a:rPr>
              <a:t>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4572000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member experience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051560"/>
            <a:ext cx="3822191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7DD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53528" y="1252728"/>
            <a:ext cx="3419856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81544" y="1325880"/>
            <a:ext cx="73152" cy="73152"/>
          </a:xfrm>
          <a:prstGeom prst="ellipse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64424" y="1325880"/>
            <a:ext cx="73152" cy="7315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47304" y="1325880"/>
            <a:ext cx="73152" cy="73152"/>
          </a:xfrm>
          <a:prstGeom prst="ellipse">
            <a:avLst/>
          </a:prstGeom>
          <a:solidFill>
            <a:srgbClr val="B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53528" y="1691639"/>
            <a:ext cx="3419856" cy="3547871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FINAL COLLAGE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CBD5E1"/>
                </a:solidFill>
                <a:latin typeface="Aptos"/>
              </a:rPr>
              <a:t>Closing screenshot collage or demo CTA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1874519" cy="420624"/>
          </a:xfrm>
          <a:prstGeom prst="roundRect">
            <a:avLst/>
          </a:prstGeom>
          <a:solidFill>
            <a:srgbClr val="A2F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477256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BOOK A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THE FOX SAYS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3072" y="641908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12 / 12</a:t>
            </a:r>
          </a:p>
        </p:txBody>
      </p:sp>
      <p:pic>
        <p:nvPicPr>
          <p:cNvPr id="28" name="Picture 27" descr="L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92531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